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4"/>
  </p:notesMasterIdLst>
  <p:sldIdLst>
    <p:sldId id="320" r:id="rId2"/>
    <p:sldId id="352" r:id="rId3"/>
    <p:sldId id="359" r:id="rId4"/>
    <p:sldId id="360" r:id="rId5"/>
    <p:sldId id="358" r:id="rId6"/>
    <p:sldId id="361" r:id="rId7"/>
    <p:sldId id="355" r:id="rId8"/>
    <p:sldId id="356" r:id="rId9"/>
    <p:sldId id="353" r:id="rId10"/>
    <p:sldId id="354" r:id="rId11"/>
    <p:sldId id="357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3039"/>
    <a:srgbClr val="FFFFFF"/>
    <a:srgbClr val="00546B"/>
    <a:srgbClr val="F0F5FA"/>
    <a:srgbClr val="FCFDFE"/>
    <a:srgbClr val="477075"/>
    <a:srgbClr val="E8F0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138" y="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6E7CD-6BE8-43DE-BDCD-5295761FA6A9}" type="datetimeFigureOut">
              <a:rPr lang="en-AU" smtClean="0"/>
              <a:t>12/11/2020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08EB6-1A05-4D1A-8D8E-E38D426BF6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8140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08EB6-1A05-4D1A-8D8E-E38D426BF600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6981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59B7-2E6D-41A1-B5FF-DCDB3D91B679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7462" y="5801711"/>
            <a:ext cx="910657" cy="9197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230061"/>
            <a:ext cx="11353800" cy="12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4905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509" y="1364659"/>
            <a:ext cx="10515600" cy="43513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568A-4827-46B1-9079-979102464679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‹#›</a:t>
            </a:fld>
            <a:endParaRPr lang="en-AU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54" y="5811271"/>
            <a:ext cx="12071126" cy="9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050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2EF03-CB10-407A-A1EE-52AF0A01D1E7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779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3EFE3-EED3-441C-9263-DBC2D441608B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411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B697-0C10-4829-80AA-99EB56F0732B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0542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8CDD-DED9-4FFE-9133-DC649D6A2F72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293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0069A-D09B-44FF-B396-1105311F85C8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5052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9AD3D-47C9-460F-A304-FFB29CA8F83E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1259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AE2F-70B1-40D8-A7F3-8E13C460D2EB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4118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8730-A06A-4D4D-B77B-0A0D77358B40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6389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D8F1-EF85-4D81-86F6-A72BAFF8C603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4737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0A1BC-BD00-4A37-A1E3-6405270A9575}" type="datetime2">
              <a:rPr lang="en-AU" smtClean="0"/>
              <a:t>Thursday, 12 November 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U" smtClean="0"/>
              <a:t>ICTPRG425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91131-6D36-464C-8293-479D2673E07A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85050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commons/0/06/Mysql-dolphin-square.sv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0/en/floating-point-types.html" TargetMode="External"/><Relationship Id="rId2" Type="http://schemas.openxmlformats.org/officeDocument/2006/relationships/hyperlink" Target="https://dev.mysql.com/doc/refman/8.0/en/integer-types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0/en/datetime.html" TargetMode="External"/><Relationship Id="rId2" Type="http://schemas.openxmlformats.org/officeDocument/2006/relationships/hyperlink" Target="https://dev.mysql.com/doc/refman/8.0/en/yea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.mysql.com/doc/refman/8.0/en/time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0/en/blob.html" TargetMode="External"/><Relationship Id="rId2" Type="http://schemas.openxmlformats.org/officeDocument/2006/relationships/hyperlink" Target="https://dev.mysql.com/doc/refman/8.0/en/innodb-row-format.html#innodb-compact-row-format-characteristic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0306" y="793377"/>
            <a:ext cx="11761694" cy="1129552"/>
          </a:xfrm>
        </p:spPr>
        <p:txBody>
          <a:bodyPr>
            <a:normAutofit fontScale="90000"/>
          </a:bodyPr>
          <a:lstStyle/>
          <a:p>
            <a:pPr algn="l"/>
            <a:r>
              <a:rPr lang="en-AU" sz="6600" b="1" dirty="0" smtClean="0">
                <a:solidFill>
                  <a:srgbClr val="00546B"/>
                </a:solidFill>
              </a:rPr>
              <a:t>Notes for Assessment 2 </a:t>
            </a:r>
            <a:br>
              <a:rPr lang="en-AU" sz="6600" b="1" dirty="0" smtClean="0">
                <a:solidFill>
                  <a:srgbClr val="00546B"/>
                </a:solidFill>
              </a:rPr>
            </a:br>
            <a:r>
              <a:rPr lang="en-AU" sz="4000" b="1" dirty="0" smtClean="0">
                <a:solidFill>
                  <a:srgbClr val="00546B"/>
                </a:solidFill>
              </a:rPr>
              <a:t>Portfolio</a:t>
            </a:r>
            <a:br>
              <a:rPr lang="en-AU" sz="4000" b="1" dirty="0" smtClean="0">
                <a:solidFill>
                  <a:srgbClr val="00546B"/>
                </a:solidFill>
              </a:rPr>
            </a:br>
            <a:r>
              <a:rPr lang="en-AU" sz="4000" b="1" dirty="0" smtClean="0">
                <a:solidFill>
                  <a:srgbClr val="00546B"/>
                </a:solidFill>
              </a:rPr>
              <a:t>Post-Normalisation</a:t>
            </a:r>
            <a:endParaRPr lang="en-AU" sz="16600" b="1" dirty="0">
              <a:solidFill>
                <a:srgbClr val="00546B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75978" y="5496011"/>
            <a:ext cx="38042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100" dirty="0">
                <a:hlinkClick r:id="rId3"/>
              </a:rPr>
              <a:t>By Oracle (Unknown) [Public domain], via Wikimedia </a:t>
            </a:r>
            <a:r>
              <a:rPr lang="en-AU" sz="1100" dirty="0" smtClean="0">
                <a:hlinkClick r:id="rId3"/>
              </a:rPr>
              <a:t>Commons</a:t>
            </a:r>
            <a:endParaRPr lang="en-AU" sz="1100" dirty="0" smtClean="0"/>
          </a:p>
          <a:p>
            <a:r>
              <a:rPr lang="en-AU" sz="1100" b="1" dirty="0"/>
              <a:t>(CC BY-SA 3.0)</a:t>
            </a:r>
          </a:p>
          <a:p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195" y="3717602"/>
            <a:ext cx="2295717" cy="229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86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InnoDB Storage requirements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0F32-F160-4819-8207-9032F847B8A8}" type="datetime2">
              <a:rPr lang="en-AU" smtClean="0"/>
              <a:t>Friday, 13 November 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2</a:t>
            </a:fld>
            <a:endParaRPr lang="en-AU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510057"/>
              </p:ext>
            </p:extLst>
          </p:nvPr>
        </p:nvGraphicFramePr>
        <p:xfrm>
          <a:off x="838200" y="1446689"/>
          <a:ext cx="10515600" cy="364617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s-ES" b="1" i="0">
                          <a:effectLst/>
                        </a:rPr>
                        <a:t>Data Type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b="1" i="0">
                          <a:effectLst/>
                        </a:rPr>
                        <a:t>Storage Required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 u="none" strike="noStrike">
                          <a:solidFill>
                            <a:srgbClr val="0074A3"/>
                          </a:solidFill>
                          <a:effectLst/>
                          <a:hlinkClick r:id="rId2" tooltip="11.1.2 Integer Types (Exact Value) - INTEGER, INT, SMALLINT, TINYINT, MEDIUMINT, BIGINT"/>
                        </a:rPr>
                        <a:t>TINYINT</a:t>
                      </a:r>
                      <a:endParaRPr lang="es-ES">
                        <a:effectLst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1 byte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 u="none" strike="noStrike">
                          <a:solidFill>
                            <a:srgbClr val="0074A3"/>
                          </a:solidFill>
                          <a:effectLst/>
                          <a:hlinkClick r:id="rId2" tooltip="11.1.2 Integer Types (Exact Value) - INTEGER, INT, SMALLINT, TINYINT, MEDIUMINT, BIGINT"/>
                        </a:rPr>
                        <a:t>SMALLINT</a:t>
                      </a:r>
                      <a:endParaRPr lang="es-ES">
                        <a:effectLst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2 bytes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 u="none" strike="noStrike">
                          <a:solidFill>
                            <a:srgbClr val="0074A3"/>
                          </a:solidFill>
                          <a:effectLst/>
                          <a:hlinkClick r:id="rId2" tooltip="11.1.2 Integer Types (Exact Value) - INTEGER, INT, SMALLINT, TINYINT, MEDIUMINT, BIGINT"/>
                        </a:rPr>
                        <a:t>MEDIUMINT</a:t>
                      </a:r>
                      <a:endParaRPr lang="es-ES">
                        <a:effectLst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3 bytes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 u="none" strike="noStrike">
                          <a:solidFill>
                            <a:srgbClr val="0074A3"/>
                          </a:solidFill>
                          <a:effectLst/>
                          <a:hlinkClick r:id="rId2" tooltip="11.1.2 Integer Types (Exact Value) - INTEGER, INT, SMALLINT, TINYINT, MEDIUMINT, BIGINT"/>
                        </a:rPr>
                        <a:t>INT</a:t>
                      </a:r>
                      <a:r>
                        <a:rPr lang="es-ES">
                          <a:effectLst/>
                        </a:rPr>
                        <a:t>, </a:t>
                      </a:r>
                      <a:r>
                        <a:rPr lang="es-ES" u="none" strike="noStrike">
                          <a:solidFill>
                            <a:srgbClr val="0074A3"/>
                          </a:solidFill>
                          <a:effectLst/>
                          <a:hlinkClick r:id="rId2" tooltip="11.1.2 Integer Types (Exact Value) - INTEGER, INT, SMALLINT, TINYINT, MEDIUMINT, BIGINT"/>
                        </a:rPr>
                        <a:t>INTEGER</a:t>
                      </a:r>
                      <a:endParaRPr lang="es-ES">
                        <a:effectLst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4 bytes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 u="none" strike="noStrike">
                          <a:solidFill>
                            <a:srgbClr val="0074A3"/>
                          </a:solidFill>
                          <a:effectLst/>
                          <a:hlinkClick r:id="rId2" tooltip="11.1.2 Integer Types (Exact Value) - INTEGER, INT, SMALLINT, TINYINT, MEDIUMINT, BIGINT"/>
                        </a:rPr>
                        <a:t>BIGINT</a:t>
                      </a:r>
                      <a:endParaRPr lang="es-ES">
                        <a:effectLst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8 bytes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FLOAT(</a:t>
                      </a:r>
                      <a:r>
                        <a:rPr lang="es-ES" i="1">
                          <a:effectLst/>
                        </a:rPr>
                        <a:t>p</a:t>
                      </a:r>
                      <a:r>
                        <a:rPr lang="es-ES">
                          <a:effectLst/>
                        </a:rPr>
                        <a:t>)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AU">
                          <a:effectLst/>
                        </a:rPr>
                        <a:t>4 bytes if 0 &lt;= </a:t>
                      </a:r>
                      <a:r>
                        <a:rPr lang="en-AU" i="1">
                          <a:effectLst/>
                        </a:rPr>
                        <a:t>p</a:t>
                      </a:r>
                      <a:r>
                        <a:rPr lang="en-AU">
                          <a:effectLst/>
                        </a:rPr>
                        <a:t> &lt;= 24, 8 bytes if 25 &lt;= </a:t>
                      </a:r>
                      <a:r>
                        <a:rPr lang="en-AU" i="1">
                          <a:effectLst/>
                        </a:rPr>
                        <a:t>p</a:t>
                      </a:r>
                      <a:r>
                        <a:rPr lang="en-AU">
                          <a:effectLst/>
                        </a:rPr>
                        <a:t> &lt;= 53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 u="none" strike="noStrike">
                          <a:solidFill>
                            <a:srgbClr val="0074A3"/>
                          </a:solidFill>
                          <a:effectLst/>
                          <a:hlinkClick r:id="rId3" tooltip="11.1.4 Floating-Point Types (Approximate Value) - FLOAT, DOUBLE"/>
                        </a:rPr>
                        <a:t>FLOAT</a:t>
                      </a:r>
                      <a:endParaRPr lang="es-ES">
                        <a:effectLst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4 bytes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DOUBLE [PRECISION], </a:t>
                      </a:r>
                      <a:r>
                        <a:rPr lang="es-ES" u="none" strike="noStrike">
                          <a:solidFill>
                            <a:srgbClr val="0074A3"/>
                          </a:solidFill>
                          <a:effectLst/>
                          <a:hlinkClick r:id="rId3" tooltip="11.1.4 Floating-Point Types (Approximate Value) - FLOAT, DOUBLE"/>
                        </a:rPr>
                        <a:t>REAL</a:t>
                      </a:r>
                      <a:endParaRPr lang="es-ES">
                        <a:effectLst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8 bytes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DECIMAL(</a:t>
                      </a:r>
                      <a:r>
                        <a:rPr lang="es-ES" i="1">
                          <a:effectLst/>
                        </a:rPr>
                        <a:t>M</a:t>
                      </a:r>
                      <a:r>
                        <a:rPr lang="es-ES">
                          <a:effectLst/>
                        </a:rPr>
                        <a:t>,</a:t>
                      </a:r>
                      <a:r>
                        <a:rPr lang="es-ES" i="1">
                          <a:effectLst/>
                        </a:rPr>
                        <a:t>D</a:t>
                      </a:r>
                      <a:r>
                        <a:rPr lang="es-ES">
                          <a:effectLst/>
                        </a:rPr>
                        <a:t>), NUMERIC(</a:t>
                      </a:r>
                      <a:r>
                        <a:rPr lang="es-ES" i="1">
                          <a:effectLst/>
                        </a:rPr>
                        <a:t>M</a:t>
                      </a:r>
                      <a:r>
                        <a:rPr lang="es-ES">
                          <a:effectLst/>
                        </a:rPr>
                        <a:t>,</a:t>
                      </a:r>
                      <a:r>
                        <a:rPr lang="es-ES" i="1">
                          <a:effectLst/>
                        </a:rPr>
                        <a:t>D</a:t>
                      </a:r>
                      <a:r>
                        <a:rPr lang="es-ES">
                          <a:effectLst/>
                        </a:rPr>
                        <a:t>)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Varies; see following discussion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BIT(</a:t>
                      </a:r>
                      <a:r>
                        <a:rPr lang="es-ES" i="1">
                          <a:effectLst/>
                        </a:rPr>
                        <a:t>M</a:t>
                      </a:r>
                      <a:r>
                        <a:rPr lang="es-ES">
                          <a:effectLst/>
                        </a:rPr>
                        <a:t>)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dirty="0" err="1">
                          <a:effectLst/>
                        </a:rPr>
                        <a:t>approximately</a:t>
                      </a:r>
                      <a:r>
                        <a:rPr lang="es-ES" dirty="0">
                          <a:effectLst/>
                        </a:rPr>
                        <a:t> (</a:t>
                      </a:r>
                      <a:r>
                        <a:rPr lang="es-ES" i="1" dirty="0">
                          <a:effectLst/>
                        </a:rPr>
                        <a:t>M</a:t>
                      </a:r>
                      <a:r>
                        <a:rPr lang="es-ES" dirty="0">
                          <a:effectLst/>
                        </a:rPr>
                        <a:t>+7)/8 bytes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613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InnoDB Storage requirements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0F32-F160-4819-8207-9032F847B8A8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3</a:t>
            </a:fld>
            <a:endParaRPr lang="en-AU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383214"/>
              </p:ext>
            </p:extLst>
          </p:nvPr>
        </p:nvGraphicFramePr>
        <p:xfrm>
          <a:off x="624840" y="1981200"/>
          <a:ext cx="10515600" cy="226314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502920">
                <a:tc>
                  <a:txBody>
                    <a:bodyPr/>
                    <a:lstStyle/>
                    <a:p>
                      <a:pPr algn="l" fontAlgn="base"/>
                      <a:r>
                        <a:rPr lang="es-ES" b="1" i="0">
                          <a:effectLst/>
                        </a:rPr>
                        <a:t>Data Type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AU" b="1" i="0">
                          <a:effectLst/>
                        </a:rPr>
                        <a:t>Storage Required Before MySQL 5.6.4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AU" b="1" i="0">
                          <a:effectLst/>
                        </a:rPr>
                        <a:t>Storage Required as of MySQL 5.6.4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s-ES" b="1" i="0" u="none" strike="noStrike">
                          <a:solidFill>
                            <a:srgbClr val="0074A3"/>
                          </a:solidFill>
                          <a:effectLst/>
                          <a:hlinkClick r:id="rId2" tooltip="11.2.4 The YEAR Type"/>
                        </a:rPr>
                        <a:t>YEAR</a:t>
                      </a:r>
                      <a:endParaRPr lang="es-ES" b="1" i="0">
                        <a:effectLst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1 byte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1 byte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s-ES" b="1" i="0" u="none" strike="noStrike">
                          <a:solidFill>
                            <a:srgbClr val="0074A3"/>
                          </a:solidFill>
                          <a:effectLst/>
                          <a:hlinkClick r:id="rId3" tooltip="11.2.2 The DATE, DATETIME, and TIMESTAMP Types"/>
                        </a:rPr>
                        <a:t>DATE</a:t>
                      </a:r>
                      <a:endParaRPr lang="es-ES" b="1" i="0">
                        <a:effectLst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3 bytes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3 bytes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s-ES" b="1" i="0" u="none" strike="noStrike">
                          <a:solidFill>
                            <a:srgbClr val="0074A3"/>
                          </a:solidFill>
                          <a:effectLst/>
                          <a:hlinkClick r:id="rId4" tooltip="11.2.3 The TIME Type"/>
                        </a:rPr>
                        <a:t>TIME</a:t>
                      </a:r>
                      <a:endParaRPr lang="es-ES" b="1" i="0">
                        <a:effectLst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3 bytes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3 bytes + fractional seconds storage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s-ES" b="1" i="0" u="none" strike="noStrike">
                          <a:solidFill>
                            <a:srgbClr val="0074A3"/>
                          </a:solidFill>
                          <a:effectLst/>
                          <a:hlinkClick r:id="rId3" tooltip="11.2.2 The DATE, DATETIME, and TIMESTAMP Types"/>
                        </a:rPr>
                        <a:t>DATETIME</a:t>
                      </a:r>
                      <a:endParaRPr lang="es-ES" b="1" i="0">
                        <a:effectLst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8 bytes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5 bytes + fractional seconds storage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s-ES" b="1" i="0" u="none" strike="noStrike">
                          <a:solidFill>
                            <a:srgbClr val="0074A3"/>
                          </a:solidFill>
                          <a:effectLst/>
                          <a:hlinkClick r:id="rId3" tooltip="11.2.2 The DATE, DATETIME, and TIMESTAMP Types"/>
                        </a:rPr>
                        <a:t>TIMESTAMP</a:t>
                      </a:r>
                      <a:endParaRPr lang="es-ES" b="1" i="0">
                        <a:effectLst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4 bytes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dirty="0">
                          <a:effectLst/>
                        </a:rPr>
                        <a:t>4 bytes + </a:t>
                      </a:r>
                      <a:r>
                        <a:rPr lang="es-ES" dirty="0" err="1">
                          <a:effectLst/>
                        </a:rPr>
                        <a:t>fractional</a:t>
                      </a:r>
                      <a:r>
                        <a:rPr lang="es-ES" dirty="0">
                          <a:effectLst/>
                        </a:rPr>
                        <a:t> </a:t>
                      </a:r>
                      <a:r>
                        <a:rPr lang="es-ES" dirty="0" err="1">
                          <a:effectLst/>
                        </a:rPr>
                        <a:t>seconds</a:t>
                      </a:r>
                      <a:r>
                        <a:rPr lang="es-ES" dirty="0">
                          <a:effectLst/>
                        </a:rPr>
                        <a:t> </a:t>
                      </a:r>
                      <a:r>
                        <a:rPr lang="es-ES" dirty="0" err="1">
                          <a:effectLst/>
                        </a:rPr>
                        <a:t>storage</a:t>
                      </a:r>
                      <a:endParaRPr lang="es-ES" dirty="0">
                        <a:effectLst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938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InnoDB Storage requirements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0F32-F160-4819-8207-9032F847B8A8}" type="datetime2">
              <a:rPr lang="en-AU" smtClean="0"/>
              <a:t>Friday, 13 November 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4</a:t>
            </a:fld>
            <a:endParaRPr lang="en-AU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811734"/>
              </p:ext>
            </p:extLst>
          </p:nvPr>
        </p:nvGraphicFramePr>
        <p:xfrm>
          <a:off x="724069" y="1200786"/>
          <a:ext cx="10477330" cy="4348237"/>
        </p:xfrm>
        <a:graphic>
          <a:graphicData uri="http://schemas.openxmlformats.org/drawingml/2006/table">
            <a:tbl>
              <a:tblPr/>
              <a:tblGrid>
                <a:gridCol w="2643971"/>
                <a:gridCol w="7833359"/>
              </a:tblGrid>
              <a:tr h="551814">
                <a:tc>
                  <a:txBody>
                    <a:bodyPr/>
                    <a:lstStyle/>
                    <a:p>
                      <a:pPr algn="l" fontAlgn="base"/>
                      <a:r>
                        <a:rPr lang="es-ES" sz="1800" b="1" i="0" dirty="0">
                          <a:effectLst/>
                        </a:rPr>
                        <a:t>Data </a:t>
                      </a:r>
                      <a:r>
                        <a:rPr lang="es-ES" sz="1800" b="1" i="0" dirty="0" err="1">
                          <a:effectLst/>
                        </a:rPr>
                        <a:t>Type</a:t>
                      </a:r>
                      <a:endParaRPr lang="es-ES" sz="1800" b="1" i="0" dirty="0">
                        <a:effectLst/>
                      </a:endParaRP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800" b="1" i="0" dirty="0">
                          <a:effectLst/>
                        </a:rPr>
                        <a:t>Storage </a:t>
                      </a:r>
                      <a:r>
                        <a:rPr lang="es-ES" sz="1800" b="1" i="0" dirty="0" err="1">
                          <a:effectLst/>
                        </a:rPr>
                        <a:t>Required</a:t>
                      </a:r>
                      <a:endParaRPr lang="es-ES" sz="1800" b="1" i="0" dirty="0">
                        <a:effectLst/>
                      </a:endParaRP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2012"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CHAR(</a:t>
                      </a:r>
                      <a:r>
                        <a:rPr lang="es-ES" sz="1400" i="1">
                          <a:effectLst/>
                        </a:rPr>
                        <a:t>M</a:t>
                      </a:r>
                      <a:r>
                        <a:rPr lang="es-ES" sz="1400">
                          <a:effectLst/>
                        </a:rPr>
                        <a:t>)</a:t>
                      </a: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AU" sz="1400" dirty="0">
                          <a:effectLst/>
                        </a:rPr>
                        <a:t>The compact family of InnoDB row formats optimize storage for variable-length character sets. See </a:t>
                      </a:r>
                      <a:r>
                        <a:rPr lang="en-AU" sz="1400" u="none" strike="noStrike" dirty="0">
                          <a:solidFill>
                            <a:srgbClr val="0074A3"/>
                          </a:solidFill>
                          <a:effectLst/>
                          <a:hlinkClick r:id="rId2" tooltip="COMPACT Row Format Storage Characteristics"/>
                        </a:rPr>
                        <a:t>COMPACT Row Format Storage Characteristics</a:t>
                      </a:r>
                      <a:r>
                        <a:rPr lang="en-AU" sz="1400" dirty="0">
                          <a:effectLst/>
                        </a:rPr>
                        <a:t>. Otherwise, </a:t>
                      </a:r>
                      <a:r>
                        <a:rPr lang="en-AU" sz="1400" i="1" dirty="0">
                          <a:effectLst/>
                        </a:rPr>
                        <a:t>M</a:t>
                      </a:r>
                      <a:r>
                        <a:rPr lang="en-AU" sz="1400" dirty="0">
                          <a:effectLst/>
                        </a:rPr>
                        <a:t> × </a:t>
                      </a:r>
                      <a:r>
                        <a:rPr lang="en-AU" sz="1400" i="1" dirty="0">
                          <a:effectLst/>
                        </a:rPr>
                        <a:t>w</a:t>
                      </a:r>
                      <a:r>
                        <a:rPr lang="en-AU" sz="1400" dirty="0">
                          <a:effectLst/>
                        </a:rPr>
                        <a:t> bytes, &lt;= </a:t>
                      </a:r>
                      <a:r>
                        <a:rPr lang="en-AU" sz="1400" i="1" dirty="0">
                          <a:effectLst/>
                        </a:rPr>
                        <a:t>M</a:t>
                      </a:r>
                      <a:r>
                        <a:rPr lang="en-AU" sz="1400" dirty="0">
                          <a:effectLst/>
                        </a:rPr>
                        <a:t> &lt;= 255, where </a:t>
                      </a:r>
                      <a:r>
                        <a:rPr lang="en-AU" sz="1400" i="1" dirty="0">
                          <a:effectLst/>
                        </a:rPr>
                        <a:t>w</a:t>
                      </a:r>
                      <a:r>
                        <a:rPr lang="en-AU" sz="1400" dirty="0">
                          <a:effectLst/>
                        </a:rPr>
                        <a:t> is the number of bytes required for the maximum-length character in the character set.</a:t>
                      </a: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802"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BINARY(</a:t>
                      </a:r>
                      <a:r>
                        <a:rPr lang="es-ES" sz="1400" i="1">
                          <a:effectLst/>
                        </a:rPr>
                        <a:t>M</a:t>
                      </a:r>
                      <a:r>
                        <a:rPr lang="es-ES" sz="1400">
                          <a:effectLst/>
                        </a:rPr>
                        <a:t>)</a:t>
                      </a: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sv-SE" sz="1400" i="1">
                          <a:effectLst/>
                        </a:rPr>
                        <a:t>M</a:t>
                      </a:r>
                      <a:r>
                        <a:rPr lang="sv-SE" sz="1400">
                          <a:effectLst/>
                        </a:rPr>
                        <a:t> bytes, 0 &lt;= </a:t>
                      </a:r>
                      <a:r>
                        <a:rPr lang="sv-SE" sz="1400" i="1">
                          <a:effectLst/>
                        </a:rPr>
                        <a:t>M</a:t>
                      </a:r>
                      <a:r>
                        <a:rPr lang="sv-SE" sz="1400">
                          <a:effectLst/>
                        </a:rPr>
                        <a:t> &lt;= 255</a:t>
                      </a: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8467"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VARCHAR(</a:t>
                      </a:r>
                      <a:r>
                        <a:rPr lang="es-ES" sz="1400" i="1">
                          <a:effectLst/>
                        </a:rPr>
                        <a:t>M</a:t>
                      </a:r>
                      <a:r>
                        <a:rPr lang="es-ES" sz="1400">
                          <a:effectLst/>
                        </a:rPr>
                        <a:t>), VARBINARY(</a:t>
                      </a:r>
                      <a:r>
                        <a:rPr lang="es-ES" sz="1400" i="1">
                          <a:effectLst/>
                        </a:rPr>
                        <a:t>M</a:t>
                      </a:r>
                      <a:r>
                        <a:rPr lang="es-ES" sz="1400">
                          <a:effectLst/>
                        </a:rPr>
                        <a:t>)</a:t>
                      </a: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AU" sz="1400" i="1">
                          <a:effectLst/>
                        </a:rPr>
                        <a:t>L</a:t>
                      </a:r>
                      <a:r>
                        <a:rPr lang="en-AU" sz="1400">
                          <a:effectLst/>
                        </a:rPr>
                        <a:t> + 1 bytes if column values require 0 − 255 bytes, </a:t>
                      </a:r>
                      <a:r>
                        <a:rPr lang="en-AU" sz="1400" i="1">
                          <a:effectLst/>
                        </a:rPr>
                        <a:t>L</a:t>
                      </a:r>
                      <a:r>
                        <a:rPr lang="en-AU" sz="1400">
                          <a:effectLst/>
                        </a:rPr>
                        <a:t> + 2 bytes if values may require more than 255 bytes</a:t>
                      </a: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802">
                <a:tc>
                  <a:txBody>
                    <a:bodyPr/>
                    <a:lstStyle/>
                    <a:p>
                      <a:pPr fontAlgn="base"/>
                      <a:r>
                        <a:rPr lang="es-ES" sz="1400" u="none" strike="noStrike">
                          <a:solidFill>
                            <a:srgbClr val="0074A3"/>
                          </a:solidFill>
                          <a:effectLst/>
                          <a:hlinkClick r:id="rId3" tooltip="11.3.4 The BLOB and TEXT Types"/>
                        </a:rPr>
                        <a:t>TINYBLOB</a:t>
                      </a:r>
                      <a:r>
                        <a:rPr lang="es-ES" sz="1400">
                          <a:effectLst/>
                        </a:rPr>
                        <a:t>, </a:t>
                      </a:r>
                      <a:r>
                        <a:rPr lang="es-ES" sz="1400" u="none" strike="noStrike">
                          <a:solidFill>
                            <a:srgbClr val="0074A3"/>
                          </a:solidFill>
                          <a:effectLst/>
                          <a:hlinkClick r:id="rId3" tooltip="11.3.4 The BLOB and TEXT Types"/>
                        </a:rPr>
                        <a:t>TINYTEXT</a:t>
                      </a:r>
                      <a:endParaRPr lang="es-ES" sz="1400">
                        <a:effectLst/>
                      </a:endParaRP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AU" sz="1400" i="1">
                          <a:effectLst/>
                        </a:rPr>
                        <a:t>L</a:t>
                      </a:r>
                      <a:r>
                        <a:rPr lang="en-AU" sz="1400">
                          <a:effectLst/>
                        </a:rPr>
                        <a:t> + 1 bytes, where </a:t>
                      </a:r>
                      <a:r>
                        <a:rPr lang="en-AU" sz="1400" i="1">
                          <a:effectLst/>
                        </a:rPr>
                        <a:t>L</a:t>
                      </a:r>
                      <a:r>
                        <a:rPr lang="en-AU" sz="1400">
                          <a:effectLst/>
                        </a:rPr>
                        <a:t> &lt; 2</a:t>
                      </a:r>
                      <a:r>
                        <a:rPr lang="en-AU" sz="1400" b="0" baseline="30000">
                          <a:effectLst/>
                        </a:rPr>
                        <a:t>8</a:t>
                      </a:r>
                      <a:endParaRPr lang="en-AU" sz="1400">
                        <a:effectLst/>
                      </a:endParaRP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802">
                <a:tc>
                  <a:txBody>
                    <a:bodyPr/>
                    <a:lstStyle/>
                    <a:p>
                      <a:pPr fontAlgn="base"/>
                      <a:r>
                        <a:rPr lang="es-ES" sz="1400" u="none" strike="noStrike">
                          <a:solidFill>
                            <a:srgbClr val="0074A3"/>
                          </a:solidFill>
                          <a:effectLst/>
                          <a:hlinkClick r:id="rId3" tooltip="11.3.4 The BLOB and TEXT Types"/>
                        </a:rPr>
                        <a:t>BLOB</a:t>
                      </a:r>
                      <a:r>
                        <a:rPr lang="es-ES" sz="1400">
                          <a:effectLst/>
                        </a:rPr>
                        <a:t>, </a:t>
                      </a:r>
                      <a:r>
                        <a:rPr lang="es-ES" sz="1400" u="none" strike="noStrike">
                          <a:solidFill>
                            <a:srgbClr val="0074A3"/>
                          </a:solidFill>
                          <a:effectLst/>
                          <a:hlinkClick r:id="rId3" tooltip="11.3.4 The BLOB and TEXT Types"/>
                        </a:rPr>
                        <a:t>TEXT</a:t>
                      </a:r>
                      <a:endParaRPr lang="es-ES" sz="1400">
                        <a:effectLst/>
                      </a:endParaRP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AU" sz="1400" i="1">
                          <a:effectLst/>
                        </a:rPr>
                        <a:t>L</a:t>
                      </a:r>
                      <a:r>
                        <a:rPr lang="en-AU" sz="1400">
                          <a:effectLst/>
                        </a:rPr>
                        <a:t> + 2 bytes, where </a:t>
                      </a:r>
                      <a:r>
                        <a:rPr lang="en-AU" sz="1400" i="1">
                          <a:effectLst/>
                        </a:rPr>
                        <a:t>L</a:t>
                      </a:r>
                      <a:r>
                        <a:rPr lang="en-AU" sz="1400">
                          <a:effectLst/>
                        </a:rPr>
                        <a:t> &lt; 2</a:t>
                      </a:r>
                      <a:r>
                        <a:rPr lang="en-AU" sz="1400" b="0" baseline="30000">
                          <a:effectLst/>
                        </a:rPr>
                        <a:t>16</a:t>
                      </a:r>
                      <a:endParaRPr lang="en-AU" sz="1400">
                        <a:effectLst/>
                      </a:endParaRP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802">
                <a:tc>
                  <a:txBody>
                    <a:bodyPr/>
                    <a:lstStyle/>
                    <a:p>
                      <a:pPr fontAlgn="base"/>
                      <a:r>
                        <a:rPr lang="es-ES" sz="1400" u="none" strike="noStrike">
                          <a:solidFill>
                            <a:srgbClr val="0074A3"/>
                          </a:solidFill>
                          <a:effectLst/>
                          <a:hlinkClick r:id="rId3" tooltip="11.3.4 The BLOB and TEXT Types"/>
                        </a:rPr>
                        <a:t>MEDIUMBLOB</a:t>
                      </a:r>
                      <a:r>
                        <a:rPr lang="es-ES" sz="1400">
                          <a:effectLst/>
                        </a:rPr>
                        <a:t>, </a:t>
                      </a:r>
                      <a:r>
                        <a:rPr lang="es-ES" sz="1400" u="none" strike="noStrike">
                          <a:solidFill>
                            <a:srgbClr val="0074A3"/>
                          </a:solidFill>
                          <a:effectLst/>
                          <a:hlinkClick r:id="rId3" tooltip="11.3.4 The BLOB and TEXT Types"/>
                        </a:rPr>
                        <a:t>MEDIUMTEXT</a:t>
                      </a:r>
                      <a:endParaRPr lang="es-ES" sz="1400">
                        <a:effectLst/>
                      </a:endParaRP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AU" sz="1400" i="1">
                          <a:effectLst/>
                        </a:rPr>
                        <a:t>L</a:t>
                      </a:r>
                      <a:r>
                        <a:rPr lang="en-AU" sz="1400">
                          <a:effectLst/>
                        </a:rPr>
                        <a:t> + 3 bytes, where </a:t>
                      </a:r>
                      <a:r>
                        <a:rPr lang="en-AU" sz="1400" i="1">
                          <a:effectLst/>
                        </a:rPr>
                        <a:t>L</a:t>
                      </a:r>
                      <a:r>
                        <a:rPr lang="en-AU" sz="1400">
                          <a:effectLst/>
                        </a:rPr>
                        <a:t> &lt; 2</a:t>
                      </a:r>
                      <a:r>
                        <a:rPr lang="en-AU" sz="1400" b="0" baseline="30000">
                          <a:effectLst/>
                        </a:rPr>
                        <a:t>24</a:t>
                      </a:r>
                      <a:endParaRPr lang="en-AU" sz="1400">
                        <a:effectLst/>
                      </a:endParaRP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802">
                <a:tc>
                  <a:txBody>
                    <a:bodyPr/>
                    <a:lstStyle/>
                    <a:p>
                      <a:pPr fontAlgn="base"/>
                      <a:r>
                        <a:rPr lang="es-ES" sz="1400" u="none" strike="noStrike">
                          <a:solidFill>
                            <a:srgbClr val="0074A3"/>
                          </a:solidFill>
                          <a:effectLst/>
                          <a:hlinkClick r:id="rId3" tooltip="11.3.4 The BLOB and TEXT Types"/>
                        </a:rPr>
                        <a:t>LONGBLOB</a:t>
                      </a:r>
                      <a:r>
                        <a:rPr lang="es-ES" sz="1400">
                          <a:effectLst/>
                        </a:rPr>
                        <a:t>, </a:t>
                      </a:r>
                      <a:r>
                        <a:rPr lang="es-ES" sz="1400" u="none" strike="noStrike">
                          <a:solidFill>
                            <a:srgbClr val="0074A3"/>
                          </a:solidFill>
                          <a:effectLst/>
                          <a:hlinkClick r:id="rId3" tooltip="11.3.4 The BLOB and TEXT Types"/>
                        </a:rPr>
                        <a:t>LONGTEXT</a:t>
                      </a:r>
                      <a:endParaRPr lang="es-ES" sz="1400">
                        <a:effectLst/>
                      </a:endParaRP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AU" sz="1400" i="1">
                          <a:effectLst/>
                        </a:rPr>
                        <a:t>L</a:t>
                      </a:r>
                      <a:r>
                        <a:rPr lang="en-AU" sz="1400">
                          <a:effectLst/>
                        </a:rPr>
                        <a:t> + 4 bytes, where </a:t>
                      </a:r>
                      <a:r>
                        <a:rPr lang="en-AU" sz="1400" i="1">
                          <a:effectLst/>
                        </a:rPr>
                        <a:t>L</a:t>
                      </a:r>
                      <a:r>
                        <a:rPr lang="en-AU" sz="1400">
                          <a:effectLst/>
                        </a:rPr>
                        <a:t> &lt; 2</a:t>
                      </a:r>
                      <a:r>
                        <a:rPr lang="en-AU" sz="1400" b="0" baseline="30000">
                          <a:effectLst/>
                        </a:rPr>
                        <a:t>32</a:t>
                      </a:r>
                      <a:endParaRPr lang="en-AU" sz="1400">
                        <a:effectLst/>
                      </a:endParaRP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8467"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ENUM('</a:t>
                      </a:r>
                      <a:r>
                        <a:rPr lang="es-ES" sz="1400" i="1">
                          <a:effectLst/>
                        </a:rPr>
                        <a:t>value1</a:t>
                      </a:r>
                      <a:r>
                        <a:rPr lang="es-ES" sz="1400">
                          <a:effectLst/>
                        </a:rPr>
                        <a:t>','</a:t>
                      </a:r>
                      <a:r>
                        <a:rPr lang="es-ES" sz="1400" i="1">
                          <a:effectLst/>
                        </a:rPr>
                        <a:t>value2</a:t>
                      </a:r>
                      <a:r>
                        <a:rPr lang="es-ES" sz="1400">
                          <a:effectLst/>
                        </a:rPr>
                        <a:t>',...)</a:t>
                      </a: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AU" sz="1400">
                          <a:effectLst/>
                        </a:rPr>
                        <a:t>1 or 2 bytes, depending on the number of enumeration values (65,535 values maximum)</a:t>
                      </a: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8467"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SET('</a:t>
                      </a:r>
                      <a:r>
                        <a:rPr lang="es-ES" sz="1400" i="1">
                          <a:effectLst/>
                        </a:rPr>
                        <a:t>value1</a:t>
                      </a:r>
                      <a:r>
                        <a:rPr lang="es-ES" sz="1400">
                          <a:effectLst/>
                        </a:rPr>
                        <a:t>','</a:t>
                      </a:r>
                      <a:r>
                        <a:rPr lang="es-ES" sz="1400" i="1">
                          <a:effectLst/>
                        </a:rPr>
                        <a:t>value2</a:t>
                      </a:r>
                      <a:r>
                        <a:rPr lang="es-ES" sz="1400">
                          <a:effectLst/>
                        </a:rPr>
                        <a:t>',...)</a:t>
                      </a: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AU" sz="1400" dirty="0">
                          <a:effectLst/>
                        </a:rPr>
                        <a:t>1, 2, 3, 4, or 8 bytes, depending on the number of set members (64 members maximum)</a:t>
                      </a:r>
                    </a:p>
                  </a:txBody>
                  <a:tcPr marL="22569" marR="22569" marT="22569" marB="22569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08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DATABASE SIZE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0F32-F160-4819-8207-9032F847B8A8}" type="datetime2">
              <a:rPr lang="en-AU" smtClean="0"/>
              <a:t>Friday, 13 November 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5</a:t>
            </a:fld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69" y="1090339"/>
            <a:ext cx="10515600" cy="4351338"/>
          </a:xfrm>
        </p:spPr>
        <p:txBody>
          <a:bodyPr>
            <a:normAutofit/>
          </a:bodyPr>
          <a:lstStyle/>
          <a:p>
            <a:r>
              <a:rPr lang="en-AU" sz="3200" dirty="0" smtClean="0"/>
              <a:t>Repair tables</a:t>
            </a:r>
          </a:p>
          <a:p>
            <a:endParaRPr lang="en-AU" dirty="0">
              <a:solidFill>
                <a:srgbClr val="00546B"/>
              </a:solidFill>
            </a:endParaRPr>
          </a:p>
          <a:p>
            <a:r>
              <a:rPr lang="en-AU" dirty="0">
                <a:solidFill>
                  <a:srgbClr val="00546B"/>
                </a:solidFill>
              </a:rPr>
              <a:t>select </a:t>
            </a:r>
            <a:r>
              <a:rPr lang="en-AU" dirty="0" err="1">
                <a:solidFill>
                  <a:srgbClr val="00546B"/>
                </a:solidFill>
              </a:rPr>
              <a:t>concat</a:t>
            </a:r>
            <a:r>
              <a:rPr lang="en-AU" dirty="0">
                <a:solidFill>
                  <a:srgbClr val="00546B"/>
                </a:solidFill>
              </a:rPr>
              <a:t>('REPAIR TABLE ', table_name, ';') </a:t>
            </a:r>
          </a:p>
          <a:p>
            <a:r>
              <a:rPr lang="en-AU" dirty="0">
                <a:solidFill>
                  <a:srgbClr val="00546B"/>
                </a:solidFill>
              </a:rPr>
              <a:t>from information_schema.tables </a:t>
            </a:r>
          </a:p>
          <a:p>
            <a:r>
              <a:rPr lang="en-AU" dirty="0" smtClean="0">
                <a:solidFill>
                  <a:srgbClr val="00546B"/>
                </a:solidFill>
              </a:rPr>
              <a:t>where </a:t>
            </a:r>
            <a:r>
              <a:rPr lang="en-AU" dirty="0">
                <a:solidFill>
                  <a:srgbClr val="00546B"/>
                </a:solidFill>
              </a:rPr>
              <a:t>table_schema='classic</a:t>
            </a:r>
            <a:r>
              <a:rPr lang="en-AU" dirty="0" smtClean="0">
                <a:solidFill>
                  <a:srgbClr val="00546B"/>
                </a:solidFill>
              </a:rPr>
              <a:t>';</a:t>
            </a:r>
          </a:p>
          <a:p>
            <a:r>
              <a:rPr lang="en-AU" sz="3200" dirty="0" err="1" smtClean="0"/>
              <a:t>Analyze</a:t>
            </a:r>
            <a:r>
              <a:rPr lang="en-AU" sz="3200" dirty="0" smtClean="0"/>
              <a:t> table/s</a:t>
            </a:r>
            <a:endParaRPr lang="en-AU" sz="3200" dirty="0"/>
          </a:p>
          <a:p>
            <a:endParaRPr lang="en-AU" dirty="0">
              <a:solidFill>
                <a:srgbClr val="00546B"/>
              </a:solidFill>
            </a:endParaRPr>
          </a:p>
          <a:p>
            <a:r>
              <a:rPr lang="en-AU" dirty="0" err="1" smtClean="0">
                <a:solidFill>
                  <a:srgbClr val="00546B"/>
                </a:solidFill>
              </a:rPr>
              <a:t>Analyze</a:t>
            </a:r>
            <a:r>
              <a:rPr lang="en-AU" dirty="0" smtClean="0">
                <a:solidFill>
                  <a:srgbClr val="00546B"/>
                </a:solidFill>
              </a:rPr>
              <a:t> table t1, t2, t3;</a:t>
            </a:r>
            <a:endParaRPr lang="en-AU" dirty="0">
              <a:solidFill>
                <a:srgbClr val="00546B"/>
              </a:solidFill>
            </a:endParaRPr>
          </a:p>
          <a:p>
            <a:endParaRPr lang="en-AU" dirty="0" smtClean="0">
              <a:solidFill>
                <a:srgbClr val="0054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20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DATABASE SIZE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0F32-F160-4819-8207-9032F847B8A8}" type="datetime2">
              <a:rPr lang="en-AU" smtClean="0"/>
              <a:t>Friday, 13 November 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6</a:t>
            </a:fld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3200" dirty="0" smtClean="0"/>
              <a:t>Finding the size of all databases in your server.</a:t>
            </a:r>
          </a:p>
          <a:p>
            <a:endParaRPr lang="en-AU" dirty="0">
              <a:solidFill>
                <a:srgbClr val="00546B"/>
              </a:solidFill>
            </a:endParaRPr>
          </a:p>
          <a:p>
            <a:r>
              <a:rPr lang="en-AU" dirty="0" smtClean="0">
                <a:solidFill>
                  <a:srgbClr val="00546B"/>
                </a:solidFill>
              </a:rPr>
              <a:t>SELECT </a:t>
            </a:r>
            <a:r>
              <a:rPr lang="en-AU" dirty="0">
                <a:solidFill>
                  <a:srgbClr val="00546B"/>
                </a:solidFill>
              </a:rPr>
              <a:t>table_schema AS "Database", </a:t>
            </a:r>
          </a:p>
          <a:p>
            <a:r>
              <a:rPr lang="en-AU" dirty="0">
                <a:solidFill>
                  <a:srgbClr val="00546B"/>
                </a:solidFill>
              </a:rPr>
              <a:t>ROUND(SUM(</a:t>
            </a:r>
            <a:r>
              <a:rPr lang="en-AU" dirty="0" err="1">
                <a:solidFill>
                  <a:srgbClr val="00546B"/>
                </a:solidFill>
              </a:rPr>
              <a:t>data_length</a:t>
            </a:r>
            <a:r>
              <a:rPr lang="en-AU" dirty="0">
                <a:solidFill>
                  <a:srgbClr val="00546B"/>
                </a:solidFill>
              </a:rPr>
              <a:t> + </a:t>
            </a:r>
            <a:r>
              <a:rPr lang="en-AU" dirty="0" err="1">
                <a:solidFill>
                  <a:srgbClr val="00546B"/>
                </a:solidFill>
              </a:rPr>
              <a:t>index_length</a:t>
            </a:r>
            <a:r>
              <a:rPr lang="en-AU" dirty="0">
                <a:solidFill>
                  <a:srgbClr val="00546B"/>
                </a:solidFill>
              </a:rPr>
              <a:t>) / 1024 / 1024, 2) AS "Size (MB)" </a:t>
            </a:r>
          </a:p>
          <a:p>
            <a:r>
              <a:rPr lang="en-AU" dirty="0">
                <a:solidFill>
                  <a:srgbClr val="00546B"/>
                </a:solidFill>
              </a:rPr>
              <a:t>FROM information_schema.TABLES </a:t>
            </a:r>
          </a:p>
          <a:p>
            <a:r>
              <a:rPr lang="en-AU" dirty="0">
                <a:solidFill>
                  <a:srgbClr val="00546B"/>
                </a:solidFill>
              </a:rPr>
              <a:t>GROUP BY table_schema;</a:t>
            </a:r>
            <a:endParaRPr lang="en-AU" dirty="0">
              <a:solidFill>
                <a:srgbClr val="00546B"/>
              </a:solidFill>
            </a:endParaRPr>
          </a:p>
          <a:p>
            <a:endParaRPr lang="en-AU" dirty="0" smtClean="0">
              <a:solidFill>
                <a:srgbClr val="0054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45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DATABASE SIZE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0F32-F160-4819-8207-9032F847B8A8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7</a:t>
            </a:fld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509" y="1036320"/>
            <a:ext cx="10515600" cy="4679677"/>
          </a:xfrm>
        </p:spPr>
        <p:txBody>
          <a:bodyPr>
            <a:normAutofit fontScale="25000" lnSpcReduction="20000"/>
          </a:bodyPr>
          <a:lstStyle/>
          <a:p>
            <a:endParaRPr lang="en-AU" sz="3200" dirty="0"/>
          </a:p>
          <a:p>
            <a:r>
              <a:rPr lang="en-AU" sz="8000" b="1" dirty="0" err="1" smtClean="0"/>
              <a:t>Avg_row_length</a:t>
            </a:r>
            <a:r>
              <a:rPr lang="en-AU" sz="8000" b="1" dirty="0" smtClean="0"/>
              <a:t> -  </a:t>
            </a:r>
            <a:r>
              <a:rPr lang="en-AU" sz="8000" dirty="0" smtClean="0"/>
              <a:t>The </a:t>
            </a:r>
            <a:r>
              <a:rPr lang="en-AU" sz="8000" dirty="0"/>
              <a:t>average row length.</a:t>
            </a:r>
          </a:p>
          <a:p>
            <a:endParaRPr lang="en-AU" sz="8000" dirty="0"/>
          </a:p>
          <a:p>
            <a:r>
              <a:rPr lang="en-AU" sz="8000" b="1" dirty="0" err="1"/>
              <a:t>Data_length</a:t>
            </a:r>
            <a:endParaRPr lang="en-AU" sz="8000" b="1" dirty="0"/>
          </a:p>
          <a:p>
            <a:endParaRPr lang="en-AU" sz="8000" dirty="0"/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AU" sz="8000" dirty="0"/>
              <a:t>For MyISAM, </a:t>
            </a:r>
            <a:r>
              <a:rPr lang="en-AU" sz="8000" dirty="0" err="1"/>
              <a:t>Data_length</a:t>
            </a:r>
            <a:r>
              <a:rPr lang="en-AU" sz="8000" dirty="0"/>
              <a:t> is the length of the data file, in bytes</a:t>
            </a:r>
            <a:r>
              <a:rPr lang="en-AU" sz="8000" dirty="0" smtClean="0"/>
              <a:t>.</a:t>
            </a:r>
            <a:endParaRPr lang="en-AU" sz="8000" dirty="0"/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AU" sz="8000" dirty="0"/>
              <a:t>For InnoDB, </a:t>
            </a:r>
            <a:r>
              <a:rPr lang="en-AU" sz="8000" dirty="0" err="1"/>
              <a:t>Data_length</a:t>
            </a:r>
            <a:r>
              <a:rPr lang="en-AU" sz="8000" dirty="0"/>
              <a:t> is the approximate amount of space allocated for the clustered index, in bytes. Specifically, it is the clustered index size, in pages, multiplied by the InnoDB page size.</a:t>
            </a:r>
          </a:p>
          <a:p>
            <a:r>
              <a:rPr lang="en-AU" sz="8000" b="1" dirty="0" err="1" smtClean="0"/>
              <a:t>Max_data_length</a:t>
            </a:r>
            <a:endParaRPr lang="en-AU" sz="8000" b="1" dirty="0"/>
          </a:p>
          <a:p>
            <a:endParaRPr lang="en-AU" sz="8000" dirty="0"/>
          </a:p>
          <a:p>
            <a:r>
              <a:rPr lang="en-AU" sz="8000" dirty="0"/>
              <a:t>For MyISAM, </a:t>
            </a:r>
            <a:r>
              <a:rPr lang="en-AU" sz="8000" dirty="0" err="1"/>
              <a:t>Max_data_length</a:t>
            </a:r>
            <a:r>
              <a:rPr lang="en-AU" sz="8000" dirty="0"/>
              <a:t> is maximum length of the data file. This is the total number of bytes of data that can be stored in the table, given the data pointer size used.</a:t>
            </a:r>
          </a:p>
          <a:p>
            <a:r>
              <a:rPr lang="en-AU" sz="8000" dirty="0" smtClean="0"/>
              <a:t>Unused </a:t>
            </a:r>
            <a:r>
              <a:rPr lang="en-AU" sz="8000" dirty="0"/>
              <a:t>for InnoDB.</a:t>
            </a:r>
          </a:p>
          <a:p>
            <a:endParaRPr lang="en-AU" sz="8000" dirty="0"/>
          </a:p>
          <a:p>
            <a:endParaRPr lang="en-AU" sz="3200" dirty="0"/>
          </a:p>
          <a:p>
            <a:r>
              <a:rPr lang="en-AU" sz="3200" dirty="0"/>
              <a:t>The number of allocated but unused bytes.</a:t>
            </a:r>
            <a:endParaRPr lang="en-AU" dirty="0" smtClean="0">
              <a:solidFill>
                <a:srgbClr val="0054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33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DATABASE SIZE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0F32-F160-4819-8207-9032F847B8A8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8</a:t>
            </a:fld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000" b="1" dirty="0" err="1" smtClean="0"/>
              <a:t>Index_length</a:t>
            </a:r>
            <a:endParaRPr lang="en-AU" sz="2000" b="1" dirty="0"/>
          </a:p>
          <a:p>
            <a:endParaRPr lang="en-AU" sz="2000" dirty="0"/>
          </a:p>
          <a:p>
            <a:r>
              <a:rPr lang="en-AU" sz="2000" dirty="0"/>
              <a:t>For MyISAM, </a:t>
            </a:r>
            <a:r>
              <a:rPr lang="en-AU" sz="2000" dirty="0" err="1"/>
              <a:t>Index_length</a:t>
            </a:r>
            <a:r>
              <a:rPr lang="en-AU" sz="2000" dirty="0"/>
              <a:t> is the length of the index file, in bytes.</a:t>
            </a:r>
          </a:p>
          <a:p>
            <a:endParaRPr lang="en-AU" sz="2000" dirty="0"/>
          </a:p>
          <a:p>
            <a:r>
              <a:rPr lang="en-AU" sz="2000" dirty="0"/>
              <a:t>For InnoDB, </a:t>
            </a:r>
            <a:r>
              <a:rPr lang="en-AU" sz="2000" dirty="0" err="1"/>
              <a:t>Index_length</a:t>
            </a:r>
            <a:r>
              <a:rPr lang="en-AU" sz="2000" dirty="0"/>
              <a:t> is the approximate amount of space allocated for non-clustered indexes, in bytes. Specifically, it is the sum of non-clustered index sizes, in pages, multiplied by the InnoDB page size.</a:t>
            </a:r>
          </a:p>
          <a:p>
            <a:endParaRPr lang="en-AU" sz="2000" dirty="0"/>
          </a:p>
          <a:p>
            <a:r>
              <a:rPr lang="en-AU" sz="2000" b="1" dirty="0" err="1" smtClean="0"/>
              <a:t>Data_free</a:t>
            </a:r>
            <a:r>
              <a:rPr lang="en-AU" sz="2000" b="1" dirty="0" smtClean="0"/>
              <a:t> - </a:t>
            </a:r>
            <a:r>
              <a:rPr lang="en-AU" sz="2000" dirty="0" smtClean="0"/>
              <a:t>The </a:t>
            </a:r>
            <a:r>
              <a:rPr lang="en-AU" sz="2000" dirty="0"/>
              <a:t>number of allocated but unused bytes.</a:t>
            </a:r>
            <a:endParaRPr lang="en-AU" sz="2000" dirty="0" smtClean="0">
              <a:solidFill>
                <a:srgbClr val="0054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06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DATABASE SIZE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0F32-F160-4819-8207-9032F847B8A8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9</a:t>
            </a:fld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3200" dirty="0" smtClean="0"/>
              <a:t>Finding the size of a single database in your server.</a:t>
            </a:r>
          </a:p>
          <a:p>
            <a:endParaRPr lang="en-AU" dirty="0">
              <a:solidFill>
                <a:srgbClr val="00546B"/>
              </a:solidFill>
            </a:endParaRPr>
          </a:p>
          <a:p>
            <a:r>
              <a:rPr lang="en-AU" dirty="0">
                <a:solidFill>
                  <a:srgbClr val="00546B"/>
                </a:solidFill>
              </a:rPr>
              <a:t>SELECT table_name AS "Table",</a:t>
            </a:r>
          </a:p>
          <a:p>
            <a:r>
              <a:rPr lang="en-AU" dirty="0">
                <a:solidFill>
                  <a:srgbClr val="00546B"/>
                </a:solidFill>
              </a:rPr>
              <a:t>ROUND(((</a:t>
            </a:r>
            <a:r>
              <a:rPr lang="en-AU" dirty="0" err="1">
                <a:solidFill>
                  <a:srgbClr val="00546B"/>
                </a:solidFill>
              </a:rPr>
              <a:t>data_length</a:t>
            </a:r>
            <a:r>
              <a:rPr lang="en-AU" dirty="0">
                <a:solidFill>
                  <a:srgbClr val="00546B"/>
                </a:solidFill>
              </a:rPr>
              <a:t> + </a:t>
            </a:r>
            <a:r>
              <a:rPr lang="en-AU" dirty="0" err="1">
                <a:solidFill>
                  <a:srgbClr val="00546B"/>
                </a:solidFill>
              </a:rPr>
              <a:t>index_length</a:t>
            </a:r>
            <a:r>
              <a:rPr lang="en-AU" dirty="0">
                <a:solidFill>
                  <a:srgbClr val="00546B"/>
                </a:solidFill>
              </a:rPr>
              <a:t>) / 1024 / 1024), 2) AS "Size (MB)"</a:t>
            </a:r>
          </a:p>
          <a:p>
            <a:r>
              <a:rPr lang="en-AU" dirty="0">
                <a:solidFill>
                  <a:srgbClr val="00546B"/>
                </a:solidFill>
              </a:rPr>
              <a:t>FROM information_schema.TABLES</a:t>
            </a:r>
          </a:p>
          <a:p>
            <a:r>
              <a:rPr lang="en-AU" dirty="0">
                <a:solidFill>
                  <a:srgbClr val="00546B"/>
                </a:solidFill>
              </a:rPr>
              <a:t>WHERE table_schema = "</a:t>
            </a:r>
            <a:r>
              <a:rPr lang="en-AU" dirty="0">
                <a:solidFill>
                  <a:srgbClr val="C00000"/>
                </a:solidFill>
              </a:rPr>
              <a:t>database_name</a:t>
            </a:r>
            <a:r>
              <a:rPr lang="en-AU" dirty="0">
                <a:solidFill>
                  <a:srgbClr val="00546B"/>
                </a:solidFill>
              </a:rPr>
              <a:t>"</a:t>
            </a:r>
          </a:p>
          <a:p>
            <a:r>
              <a:rPr lang="en-AU" dirty="0">
                <a:solidFill>
                  <a:srgbClr val="00546B"/>
                </a:solidFill>
              </a:rPr>
              <a:t>ORDER BY (</a:t>
            </a:r>
            <a:r>
              <a:rPr lang="en-AU" dirty="0" err="1">
                <a:solidFill>
                  <a:srgbClr val="00546B"/>
                </a:solidFill>
              </a:rPr>
              <a:t>data_length</a:t>
            </a:r>
            <a:r>
              <a:rPr lang="en-AU" dirty="0">
                <a:solidFill>
                  <a:srgbClr val="00546B"/>
                </a:solidFill>
              </a:rPr>
              <a:t> + </a:t>
            </a:r>
            <a:r>
              <a:rPr lang="en-AU" dirty="0" err="1">
                <a:solidFill>
                  <a:srgbClr val="00546B"/>
                </a:solidFill>
              </a:rPr>
              <a:t>index_length</a:t>
            </a:r>
            <a:r>
              <a:rPr lang="en-AU" dirty="0">
                <a:solidFill>
                  <a:srgbClr val="00546B"/>
                </a:solidFill>
              </a:rPr>
              <a:t>) DESC;</a:t>
            </a:r>
            <a:endParaRPr lang="en-AU" dirty="0" smtClean="0">
              <a:solidFill>
                <a:srgbClr val="0054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69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DATABASE SIZE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0F32-F160-4819-8207-9032F847B8A8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10</a:t>
            </a:fld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3200" dirty="0" smtClean="0"/>
              <a:t>Finding the size of all databases in your server.</a:t>
            </a:r>
          </a:p>
          <a:p>
            <a:endParaRPr lang="en-AU" dirty="0">
              <a:solidFill>
                <a:srgbClr val="00546B"/>
              </a:solidFill>
            </a:endParaRPr>
          </a:p>
          <a:p>
            <a:r>
              <a:rPr lang="en-AU" dirty="0">
                <a:solidFill>
                  <a:srgbClr val="00546B"/>
                </a:solidFill>
              </a:rPr>
              <a:t>SELECT table_schema as 'Database Name', </a:t>
            </a:r>
          </a:p>
          <a:p>
            <a:r>
              <a:rPr lang="en-AU" dirty="0">
                <a:solidFill>
                  <a:srgbClr val="00546B"/>
                </a:solidFill>
              </a:rPr>
              <a:t>        sum( </a:t>
            </a:r>
            <a:r>
              <a:rPr lang="en-AU" dirty="0" err="1">
                <a:solidFill>
                  <a:srgbClr val="00546B"/>
                </a:solidFill>
              </a:rPr>
              <a:t>data_length</a:t>
            </a:r>
            <a:r>
              <a:rPr lang="en-AU" dirty="0">
                <a:solidFill>
                  <a:srgbClr val="00546B"/>
                </a:solidFill>
              </a:rPr>
              <a:t> + </a:t>
            </a:r>
            <a:r>
              <a:rPr lang="en-AU" dirty="0" err="1">
                <a:solidFill>
                  <a:srgbClr val="00546B"/>
                </a:solidFill>
              </a:rPr>
              <a:t>index_length</a:t>
            </a:r>
            <a:r>
              <a:rPr lang="en-AU" dirty="0">
                <a:solidFill>
                  <a:srgbClr val="00546B"/>
                </a:solidFill>
              </a:rPr>
              <a:t> ) as 'Size in Bytes',       </a:t>
            </a:r>
          </a:p>
          <a:p>
            <a:r>
              <a:rPr lang="en-AU" dirty="0">
                <a:solidFill>
                  <a:srgbClr val="00546B"/>
                </a:solidFill>
              </a:rPr>
              <a:t>        round((sum(</a:t>
            </a:r>
            <a:r>
              <a:rPr lang="en-AU" dirty="0" err="1">
                <a:solidFill>
                  <a:srgbClr val="00546B"/>
                </a:solidFill>
              </a:rPr>
              <a:t>data_length</a:t>
            </a:r>
            <a:r>
              <a:rPr lang="en-AU" dirty="0">
                <a:solidFill>
                  <a:srgbClr val="00546B"/>
                </a:solidFill>
              </a:rPr>
              <a:t> + </a:t>
            </a:r>
            <a:r>
              <a:rPr lang="en-AU" dirty="0" err="1">
                <a:solidFill>
                  <a:srgbClr val="00546B"/>
                </a:solidFill>
              </a:rPr>
              <a:t>index_length</a:t>
            </a:r>
            <a:r>
              <a:rPr lang="en-AU" dirty="0">
                <a:solidFill>
                  <a:srgbClr val="00546B"/>
                </a:solidFill>
              </a:rPr>
              <a:t>) / 1024 / 1024), 4) as 'Formatted'</a:t>
            </a:r>
          </a:p>
          <a:p>
            <a:r>
              <a:rPr lang="en-AU" dirty="0">
                <a:solidFill>
                  <a:srgbClr val="00546B"/>
                </a:solidFill>
              </a:rPr>
              <a:t> FROM information_schema.TABLES</a:t>
            </a:r>
          </a:p>
          <a:p>
            <a:r>
              <a:rPr lang="en-AU" dirty="0">
                <a:solidFill>
                  <a:srgbClr val="00546B"/>
                </a:solidFill>
              </a:rPr>
              <a:t> WHERE table_schema not in ('information_schema', '</a:t>
            </a:r>
            <a:r>
              <a:rPr lang="en-AU" dirty="0" err="1">
                <a:solidFill>
                  <a:srgbClr val="00546B"/>
                </a:solidFill>
              </a:rPr>
              <a:t>performance_schema</a:t>
            </a:r>
            <a:r>
              <a:rPr lang="en-AU" dirty="0">
                <a:solidFill>
                  <a:srgbClr val="00546B"/>
                </a:solidFill>
              </a:rPr>
              <a:t>', '</a:t>
            </a:r>
            <a:r>
              <a:rPr lang="en-AU" dirty="0" err="1">
                <a:solidFill>
                  <a:srgbClr val="00546B"/>
                </a:solidFill>
              </a:rPr>
              <a:t>mysql</a:t>
            </a:r>
            <a:r>
              <a:rPr lang="en-AU" dirty="0">
                <a:solidFill>
                  <a:srgbClr val="00546B"/>
                </a:solidFill>
              </a:rPr>
              <a:t>', 'sys')</a:t>
            </a:r>
          </a:p>
          <a:p>
            <a:r>
              <a:rPr lang="en-AU" dirty="0">
                <a:solidFill>
                  <a:srgbClr val="00546B"/>
                </a:solidFill>
              </a:rPr>
              <a:t> GROUP BY table_schema</a:t>
            </a:r>
          </a:p>
          <a:p>
            <a:r>
              <a:rPr lang="en-AU" dirty="0">
                <a:solidFill>
                  <a:srgbClr val="00546B"/>
                </a:solidFill>
              </a:rPr>
              <a:t> ORDER BY </a:t>
            </a:r>
            <a:r>
              <a:rPr lang="en-AU" dirty="0" err="1">
                <a:solidFill>
                  <a:srgbClr val="00546B"/>
                </a:solidFill>
              </a:rPr>
              <a:t>ByteSize</a:t>
            </a:r>
            <a:r>
              <a:rPr lang="en-AU" dirty="0">
                <a:solidFill>
                  <a:srgbClr val="00546B"/>
                </a:solidFill>
              </a:rPr>
              <a:t> DESC;</a:t>
            </a:r>
            <a:endParaRPr lang="en-AU" dirty="0" smtClean="0">
              <a:solidFill>
                <a:srgbClr val="0054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88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DATABASE </a:t>
            </a:r>
            <a:r>
              <a:rPr lang="en-AU" dirty="0" smtClean="0"/>
              <a:t>SIZE – Using </a:t>
            </a:r>
            <a:r>
              <a:rPr lang="en-AU" dirty="0" smtClean="0">
                <a:solidFill>
                  <a:srgbClr val="C00000"/>
                </a:solidFill>
              </a:rPr>
              <a:t>SYS</a:t>
            </a:r>
            <a:endParaRPr lang="en-AU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0F32-F160-4819-8207-9032F847B8A8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11</a:t>
            </a:fld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Finding the size of all databases in your server.</a:t>
            </a:r>
          </a:p>
          <a:p>
            <a:endParaRPr lang="en-AU" dirty="0">
              <a:solidFill>
                <a:srgbClr val="00546B"/>
              </a:solidFill>
            </a:endParaRPr>
          </a:p>
          <a:p>
            <a:r>
              <a:rPr lang="en-AU" dirty="0">
                <a:solidFill>
                  <a:srgbClr val="00546B"/>
                </a:solidFill>
              </a:rPr>
              <a:t>SELECT count(*) as '# TABLES', </a:t>
            </a:r>
            <a:r>
              <a:rPr lang="en-AU" dirty="0" err="1">
                <a:solidFill>
                  <a:srgbClr val="00546B"/>
                </a:solidFill>
              </a:rPr>
              <a:t>sys.format_bytes</a:t>
            </a:r>
            <a:r>
              <a:rPr lang="en-AU" dirty="0">
                <a:solidFill>
                  <a:srgbClr val="00546B"/>
                </a:solidFill>
              </a:rPr>
              <a:t>(sum(</a:t>
            </a:r>
            <a:r>
              <a:rPr lang="en-AU" dirty="0" err="1">
                <a:solidFill>
                  <a:srgbClr val="00546B"/>
                </a:solidFill>
              </a:rPr>
              <a:t>data_length</a:t>
            </a:r>
            <a:r>
              <a:rPr lang="en-AU" dirty="0">
                <a:solidFill>
                  <a:srgbClr val="00546B"/>
                </a:solidFill>
              </a:rPr>
              <a:t>)) DATA, </a:t>
            </a:r>
          </a:p>
          <a:p>
            <a:r>
              <a:rPr lang="en-AU" dirty="0">
                <a:solidFill>
                  <a:srgbClr val="00546B"/>
                </a:solidFill>
              </a:rPr>
              <a:t>       </a:t>
            </a:r>
            <a:r>
              <a:rPr lang="en-AU" dirty="0" err="1">
                <a:solidFill>
                  <a:srgbClr val="00546B"/>
                </a:solidFill>
              </a:rPr>
              <a:t>sys.format_bytes</a:t>
            </a:r>
            <a:r>
              <a:rPr lang="en-AU" dirty="0">
                <a:solidFill>
                  <a:srgbClr val="00546B"/>
                </a:solidFill>
              </a:rPr>
              <a:t>(sum(</a:t>
            </a:r>
            <a:r>
              <a:rPr lang="en-AU" dirty="0" err="1">
                <a:solidFill>
                  <a:srgbClr val="00546B"/>
                </a:solidFill>
              </a:rPr>
              <a:t>index_length</a:t>
            </a:r>
            <a:r>
              <a:rPr lang="en-AU" dirty="0">
                <a:solidFill>
                  <a:srgbClr val="00546B"/>
                </a:solidFill>
              </a:rPr>
              <a:t>)) INDEXES,   </a:t>
            </a:r>
          </a:p>
          <a:p>
            <a:r>
              <a:rPr lang="en-AU" dirty="0">
                <a:solidFill>
                  <a:srgbClr val="00546B"/>
                </a:solidFill>
              </a:rPr>
              <a:t>       </a:t>
            </a:r>
            <a:r>
              <a:rPr lang="en-AU" dirty="0" err="1">
                <a:solidFill>
                  <a:srgbClr val="00546B"/>
                </a:solidFill>
              </a:rPr>
              <a:t>sys.format_bytes</a:t>
            </a:r>
            <a:r>
              <a:rPr lang="en-AU" dirty="0">
                <a:solidFill>
                  <a:srgbClr val="00546B"/>
                </a:solidFill>
              </a:rPr>
              <a:t>(sum(</a:t>
            </a:r>
            <a:r>
              <a:rPr lang="en-AU" dirty="0" err="1">
                <a:solidFill>
                  <a:srgbClr val="00546B"/>
                </a:solidFill>
              </a:rPr>
              <a:t>data_length</a:t>
            </a:r>
            <a:r>
              <a:rPr lang="en-AU" dirty="0">
                <a:solidFill>
                  <a:srgbClr val="00546B"/>
                </a:solidFill>
              </a:rPr>
              <a:t> + </a:t>
            </a:r>
            <a:r>
              <a:rPr lang="en-AU" dirty="0" err="1">
                <a:solidFill>
                  <a:srgbClr val="00546B"/>
                </a:solidFill>
              </a:rPr>
              <a:t>index_length</a:t>
            </a:r>
            <a:r>
              <a:rPr lang="en-AU" dirty="0">
                <a:solidFill>
                  <a:srgbClr val="00546B"/>
                </a:solidFill>
              </a:rPr>
              <a:t>)) 'TOTAL SIZE', </a:t>
            </a:r>
          </a:p>
          <a:p>
            <a:r>
              <a:rPr lang="en-AU" dirty="0">
                <a:solidFill>
                  <a:srgbClr val="00546B"/>
                </a:solidFill>
              </a:rPr>
              <a:t>       engine `ENGINE` FROM information_schema.TABLES </a:t>
            </a:r>
          </a:p>
          <a:p>
            <a:r>
              <a:rPr lang="en-AU" dirty="0">
                <a:solidFill>
                  <a:srgbClr val="00546B"/>
                </a:solidFill>
              </a:rPr>
              <a:t>WHERE TABLE_SCHEMA NOT IN ('sys','</a:t>
            </a:r>
            <a:r>
              <a:rPr lang="en-AU" dirty="0" err="1">
                <a:solidFill>
                  <a:srgbClr val="00546B"/>
                </a:solidFill>
              </a:rPr>
              <a:t>mysql</a:t>
            </a:r>
            <a:r>
              <a:rPr lang="en-AU" dirty="0">
                <a:solidFill>
                  <a:srgbClr val="00546B"/>
                </a:solidFill>
              </a:rPr>
              <a:t>', 'information_schema', </a:t>
            </a:r>
          </a:p>
          <a:p>
            <a:r>
              <a:rPr lang="en-AU" dirty="0">
                <a:solidFill>
                  <a:srgbClr val="00546B"/>
                </a:solidFill>
              </a:rPr>
              <a:t>                '</a:t>
            </a:r>
            <a:r>
              <a:rPr lang="en-AU" dirty="0" err="1">
                <a:solidFill>
                  <a:srgbClr val="00546B"/>
                </a:solidFill>
              </a:rPr>
              <a:t>performance_schema</a:t>
            </a:r>
            <a:r>
              <a:rPr lang="en-AU" dirty="0">
                <a:solidFill>
                  <a:srgbClr val="00546B"/>
                </a:solidFill>
              </a:rPr>
              <a:t>', '</a:t>
            </a:r>
            <a:r>
              <a:rPr lang="en-AU" dirty="0" err="1">
                <a:solidFill>
                  <a:srgbClr val="00546B"/>
                </a:solidFill>
              </a:rPr>
              <a:t>mysql_innodb_cluster_metadata</a:t>
            </a:r>
            <a:r>
              <a:rPr lang="en-AU" dirty="0">
                <a:solidFill>
                  <a:srgbClr val="00546B"/>
                </a:solidFill>
              </a:rPr>
              <a:t>')</a:t>
            </a:r>
          </a:p>
          <a:p>
            <a:r>
              <a:rPr lang="en-AU" dirty="0">
                <a:solidFill>
                  <a:srgbClr val="00546B"/>
                </a:solidFill>
              </a:rPr>
              <a:t>GROUP BY engine;</a:t>
            </a:r>
            <a:endParaRPr lang="en-AU" dirty="0" smtClean="0">
              <a:solidFill>
                <a:srgbClr val="0054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96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3960" y="3641652"/>
            <a:ext cx="4834880" cy="2016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7200" dirty="0" smtClean="0">
                <a:solidFill>
                  <a:srgbClr val="D33039"/>
                </a:solidFill>
                <a:latin typeface="Edwardian Script ITC" panose="030303020407070D0804" pitchFamily="66" charset="0"/>
              </a:rPr>
              <a:t>Thank you</a:t>
            </a:r>
            <a:endParaRPr lang="en-NZ" sz="7200" dirty="0">
              <a:solidFill>
                <a:srgbClr val="D33039"/>
              </a:solidFill>
              <a:latin typeface="Edwardian Script ITC" panose="030303020407070D0804" pitchFamily="66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6CEEF-46A1-49C7-B439-F039D26B3D58}" type="datetime2">
              <a:rPr lang="en-AU" smtClean="0"/>
              <a:t>Thursday, 12 November 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ICTPRG425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91131-6D36-464C-8293-479D2673E07A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0807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2499</TotalTime>
  <Words>704</Words>
  <Application>Microsoft Office PowerPoint</Application>
  <PresentationFormat>Widescreen</PresentationFormat>
  <Paragraphs>168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Edwardian Script ITC</vt:lpstr>
      <vt:lpstr>Office Theme</vt:lpstr>
      <vt:lpstr>Notes for Assessment 2  Portfolio Post-Normalisation</vt:lpstr>
      <vt:lpstr>InnoDB Storage requirements</vt:lpstr>
      <vt:lpstr>InnoDB Storage requirements</vt:lpstr>
      <vt:lpstr>InnoDB Storage requirements</vt:lpstr>
      <vt:lpstr>DATABASE SIZE</vt:lpstr>
      <vt:lpstr>DATABASE SIZE</vt:lpstr>
      <vt:lpstr>DATABASE SIZE</vt:lpstr>
      <vt:lpstr>DATABASE SIZE</vt:lpstr>
      <vt:lpstr>DATABASE SIZE</vt:lpstr>
      <vt:lpstr>DATABASE SIZE</vt:lpstr>
      <vt:lpstr>DATABASE SIZE – Using SYS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Manuela Perez</dc:creator>
  <cp:lastModifiedBy>Microsoft account</cp:lastModifiedBy>
  <cp:revision>163</cp:revision>
  <dcterms:created xsi:type="dcterms:W3CDTF">2017-07-01T07:39:48Z</dcterms:created>
  <dcterms:modified xsi:type="dcterms:W3CDTF">2020-11-12T23:12:03Z</dcterms:modified>
</cp:coreProperties>
</file>